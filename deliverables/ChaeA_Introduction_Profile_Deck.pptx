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8"/>
    <p:restoredTop sz="94674"/>
  </p:normalViewPr>
  <p:slideViewPr>
    <p:cSldViewPr snapToGrid="0">
      <p:cViewPr varScale="1">
        <p:scale>
          <a:sx n="175" d="100"/>
          <a:sy n="175" d="100"/>
        </p:scale>
        <p:origin x="16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F4ACE6-C427-4E0A-AA19-9AC7973754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rcRect l="19121" r="19121"/>
          <a:stretch>
            <a:fillRect/>
          </a:stretch>
        </p:blipFill>
        <p:spPr>
          <a:xfrm>
            <a:off x="4686300" y="0"/>
            <a:ext cx="7505700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4BC7FF9-A647-4607-91E3-C387CBC1FB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143500" cy="6858000"/>
          </a:xfrm>
          <a:prstGeom prst="rect">
            <a:avLst/>
          </a:prstGeom>
          <a:solidFill>
            <a:srgbClr val="F8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367C56-A791-49B2-8BB2-D6B122D286D4}"/>
              </a:ext>
            </a:extLst>
          </p:cNvPr>
          <p:cNvSpPr>
            <a:spLocks noGrp="1"/>
          </p:cNvSpPr>
          <p:nvPr/>
        </p:nvSpPr>
        <p:spPr>
          <a:xfrm>
            <a:off x="5143500" y="0"/>
            <a:ext cx="28575" cy="685800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EEBAA0-73A7-4B27-B813-3A2FD191A934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5D7FA6"/>
                </a:solidFill>
                <a:latin typeface="Aptos"/>
                <a:ea typeface="Aptos"/>
                <a:cs typeface="Aptos"/>
              </a:rPr>
              <a:t>VIRTUAL SINGER-SONGWRITER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1AE427-35B0-470D-8D67-B60489574DE1}"/>
              </a:ext>
            </a:extLst>
          </p:cNvPr>
          <p:cNvSpPr>
            <a:spLocks noGrp="1"/>
          </p:cNvSpPr>
          <p:nvPr/>
        </p:nvSpPr>
        <p:spPr>
          <a:xfrm>
            <a:off x="647700" y="1466850"/>
            <a:ext cx="3810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ChaeA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68C9D9-9273-4FDE-8EE9-490FC6182F27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채아 / YOON CHAEA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B24002-9E0B-455D-977B-17D8CDBC94F5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2857500" cy="28575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490A7A-AE04-4F30-AA50-1C3F725367D5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7147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한국과 미국 사이에서 자란 감정을,</a:t>
            </a:r>
          </a:p>
          <a:p>
            <a:pPr algn="l">
              <a:defRPr sz="1875" b="0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서울의 작은 원룸에서 한국어 노래로</a:t>
            </a:r>
          </a:p>
          <a:p>
            <a:pPr algn="l">
              <a:defRPr sz="1875" b="0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다시 배워가는 싱어송라이터.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C707E6-E9F0-4C98-8FE4-B030193269A4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3619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B414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B4146"/>
                </a:solidFill>
                <a:latin typeface="Aptos"/>
                <a:ea typeface="Aptos"/>
                <a:cs typeface="Aptos"/>
              </a:rPr>
              <a:t>LINE / Room Cover / Lyric Diary / Digital Camera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F14595-D283-40A2-92B8-9E44109C969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@chaea.line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85F000-E243-47D3-8B0D-544BEA8F13B8}"/>
              </a:ext>
            </a:extLst>
          </p:cNvPr>
          <p:cNvSpPr>
            <a:spLocks noGrp="1"/>
          </p:cNvSpPr>
          <p:nvPr/>
        </p:nvSpPr>
        <p:spPr>
          <a:xfrm>
            <a:off x="42672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092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8248E975-D3E8-46C6-A847-E240ABF8E1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C0E3D5C5-A6FF-4371-9052-D22BB1ACF97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8575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9F6A51E2-837F-4C26-A288-D1344E695111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CORE IDENTITY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43D827-34F5-419A-8ED5-E9AE41B2D493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685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ChaeA는 완성된 스타보다</a:t>
            </a:r>
          </a:p>
          <a:p>
            <a:pPr algn="l">
              <a:defRPr sz="3225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먼저 발견된 목소리에 가깝다.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E6A47A-E3F5-4F3A-9680-F450355F4AFA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5829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정체성의 중심은 화려한 세계관 설명이 아니라, 두 문화와 두 언어 사이에서 자기 감정을 찾아가는 과정이다.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3BB456-152A-446E-BB83-89B283CCF0AD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9906000" cy="9525"/>
          </a:xfrm>
          <a:prstGeom prst="rect">
            <a:avLst/>
          </a:prstGeom>
          <a:solidFill>
            <a:srgbClr val="D8C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5E5E07-8962-43AC-A220-7E77D9FBC7DB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257175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DC5265-AE1A-4B1A-A63A-4E9809A0926C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676F53-AFF0-45E8-80C1-E6DD89151C33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2571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한국과 미국, 영어와 한국어 사이에서 생긴 섬세한 거리감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9B3850-5BC1-4FC7-9AEB-DF0530D15CEC}"/>
              </a:ext>
            </a:extLst>
          </p:cNvPr>
          <p:cNvSpPr>
            <a:spLocks noGrp="1"/>
          </p:cNvSpPr>
          <p:nvPr/>
        </p:nvSpPr>
        <p:spPr>
          <a:xfrm>
            <a:off x="4324350" y="3581400"/>
            <a:ext cx="2571750" cy="19050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DA5AE1-3067-466C-83A3-1FA9AB0942E1}"/>
              </a:ext>
            </a:extLst>
          </p:cNvPr>
          <p:cNvSpPr>
            <a:spLocks noGrp="1"/>
          </p:cNvSpPr>
          <p:nvPr/>
        </p:nvSpPr>
        <p:spPr>
          <a:xfrm>
            <a:off x="4324350" y="37338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B9DBEE-2E41-4142-BEBA-7E00B4C6FAFB}"/>
              </a:ext>
            </a:extLst>
          </p:cNvPr>
          <p:cNvSpPr>
            <a:spLocks noGrp="1"/>
          </p:cNvSpPr>
          <p:nvPr/>
        </p:nvSpPr>
        <p:spPr>
          <a:xfrm>
            <a:off x="4324350" y="4057650"/>
            <a:ext cx="2571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커버곡, 사진, 일기, 팬 댓글이 하나의 LINE으로 이어짐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8B68FA-0939-4B07-BC40-781782A76CDF}"/>
              </a:ext>
            </a:extLst>
          </p:cNvPr>
          <p:cNvSpPr>
            <a:spLocks noGrp="1"/>
          </p:cNvSpPr>
          <p:nvPr/>
        </p:nvSpPr>
        <p:spPr>
          <a:xfrm>
            <a:off x="7772400" y="3581400"/>
            <a:ext cx="2571750" cy="19050"/>
          </a:xfrm>
          <a:prstGeom prst="rect">
            <a:avLst/>
          </a:prstGeom>
          <a:solidFill>
            <a:srgbClr val="1C2F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83D7C9-1466-4EAB-9E5E-76E9D1121A0A}"/>
              </a:ext>
            </a:extLst>
          </p:cNvPr>
          <p:cNvSpPr>
            <a:spLocks noGrp="1"/>
          </p:cNvSpPr>
          <p:nvPr/>
        </p:nvSpPr>
        <p:spPr>
          <a:xfrm>
            <a:off x="7772400" y="37338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348173-EF6C-4303-8B4A-949C283110B8}"/>
              </a:ext>
            </a:extLst>
          </p:cNvPr>
          <p:cNvSpPr>
            <a:spLocks noGrp="1"/>
          </p:cNvSpPr>
          <p:nvPr/>
        </p:nvSpPr>
        <p:spPr>
          <a:xfrm>
            <a:off x="7772400" y="4057650"/>
            <a:ext cx="2571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원룸이라는 작은 공간이 첫 무대이자 세계관의 출발점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B2B167-1F6C-401B-99FC-9AA5047D968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@chaea.line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4576320-135D-484C-A207-4B69A59DEF2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7266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9CCF912D-5585-4631-B18C-7B71ABFCDA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0B03CD6E-6C90-49DB-B2F3-E1512CF2F68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8575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A819AC51-110C-4BEE-BA97-B697C448246B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ORIGIN STORY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3FD11E-13E2-46EC-879C-9F10ECE8D432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7524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California에서 Seoul 원룸까지,</a:t>
            </a:r>
          </a:p>
          <a:p>
            <a:pPr algn="l">
              <a:defRPr sz="285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서사는 점점 더 가까운 목소리로 좁혀진다.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2FE437-4D1E-4643-9BE2-8439FEAB9B68}"/>
              </a:ext>
            </a:extLst>
          </p:cNvPr>
          <p:cNvSpPr>
            <a:spLocks noGrp="1"/>
          </p:cNvSpPr>
          <p:nvPr/>
        </p:nvSpPr>
        <p:spPr>
          <a:xfrm>
            <a:off x="952500" y="3381375"/>
            <a:ext cx="942975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25A28CE-C136-4927-8986-B69281C6164D}"/>
              </a:ext>
            </a:extLst>
          </p:cNvPr>
          <p:cNvSpPr>
            <a:spLocks noGrp="1"/>
          </p:cNvSpPr>
          <p:nvPr/>
        </p:nvSpPr>
        <p:spPr>
          <a:xfrm>
            <a:off x="866775" y="3295650"/>
            <a:ext cx="190500" cy="190500"/>
          </a:xfrm>
          <a:prstGeom prst="ellipse">
            <a:avLst/>
          </a:prstGeom>
          <a:solidFill>
            <a:srgbClr val="F8F1E7"/>
          </a:solidFill>
          <a:ln w="19050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5053C7-A370-4B56-B926-F78D909B9FCB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B1D763-8A36-4E12-B72F-C7371D07C318}"/>
              </a:ext>
            </a:extLst>
          </p:cNvPr>
          <p:cNvSpPr>
            <a:spLocks noGrp="1"/>
          </p:cNvSpPr>
          <p:nvPr/>
        </p:nvSpPr>
        <p:spPr>
          <a:xfrm>
            <a:off x="476250" y="370522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Mother's piano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63CFE6-62C3-49EA-BE9D-28BC7C6D8AAC}"/>
              </a:ext>
            </a:extLst>
          </p:cNvPr>
          <p:cNvSpPr>
            <a:spLocks noGrp="1"/>
          </p:cNvSpPr>
          <p:nvPr/>
        </p:nvSpPr>
        <p:spPr>
          <a:xfrm>
            <a:off x="476250" y="4048125"/>
            <a:ext cx="2000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피아노를 연주하던 어머니 곁에서 자연스럽게 음악을 배움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3DBABD3-5614-4E22-86F5-28C8D73887BE}"/>
              </a:ext>
            </a:extLst>
          </p:cNvPr>
          <p:cNvSpPr>
            <a:spLocks noGrp="1"/>
          </p:cNvSpPr>
          <p:nvPr/>
        </p:nvSpPr>
        <p:spPr>
          <a:xfrm>
            <a:off x="4010025" y="3295650"/>
            <a:ext cx="190500" cy="190500"/>
          </a:xfrm>
          <a:prstGeom prst="ellipse">
            <a:avLst/>
          </a:prstGeom>
          <a:solidFill>
            <a:srgbClr val="F8F1E7"/>
          </a:solidFill>
          <a:ln w="19050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337191-2E97-4208-B9FF-C4C40645E805}"/>
              </a:ext>
            </a:extLst>
          </p:cNvPr>
          <p:cNvSpPr>
            <a:spLocks noGrp="1"/>
          </p:cNvSpPr>
          <p:nvPr/>
        </p:nvSpPr>
        <p:spPr>
          <a:xfrm>
            <a:off x="3924300" y="29051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AF8BF8-5E52-4C60-A698-DF668D6FC399}"/>
              </a:ext>
            </a:extLst>
          </p:cNvPr>
          <p:cNvSpPr>
            <a:spLocks noGrp="1"/>
          </p:cNvSpPr>
          <p:nvPr/>
        </p:nvSpPr>
        <p:spPr>
          <a:xfrm>
            <a:off x="3619500" y="370522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Between cultures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5D9F84-5B0B-4544-B0B8-CD2E0EE9776F}"/>
              </a:ext>
            </a:extLst>
          </p:cNvPr>
          <p:cNvSpPr>
            <a:spLocks noGrp="1"/>
          </p:cNvSpPr>
          <p:nvPr/>
        </p:nvSpPr>
        <p:spPr>
          <a:xfrm>
            <a:off x="3619500" y="4048125"/>
            <a:ext cx="2000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한국과 미국 두 문화 사이에서 감정과 정체성을 쌓아감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9E45ECE-CF8C-443C-B081-DD1697266295}"/>
              </a:ext>
            </a:extLst>
          </p:cNvPr>
          <p:cNvSpPr>
            <a:spLocks noGrp="1"/>
          </p:cNvSpPr>
          <p:nvPr/>
        </p:nvSpPr>
        <p:spPr>
          <a:xfrm>
            <a:off x="7153275" y="3295650"/>
            <a:ext cx="190500" cy="190500"/>
          </a:xfrm>
          <a:prstGeom prst="ellipse">
            <a:avLst/>
          </a:prstGeom>
          <a:solidFill>
            <a:srgbClr val="F8F1E7"/>
          </a:solidFill>
          <a:ln w="19050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9908DE-621D-4CD3-981C-7DD5F53D5713}"/>
              </a:ext>
            </a:extLst>
          </p:cNvPr>
          <p:cNvSpPr>
            <a:spLocks noGrp="1"/>
          </p:cNvSpPr>
          <p:nvPr/>
        </p:nvSpPr>
        <p:spPr>
          <a:xfrm>
            <a:off x="7067550" y="29051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8C2D03E-5781-42AF-A11A-0CF94A987CA0}"/>
              </a:ext>
            </a:extLst>
          </p:cNvPr>
          <p:cNvSpPr>
            <a:spLocks noGrp="1"/>
          </p:cNvSpPr>
          <p:nvPr/>
        </p:nvSpPr>
        <p:spPr>
          <a:xfrm>
            <a:off x="6762750" y="370522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Seoul room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3DC207-1E77-449E-B434-DAFEDB1186FE}"/>
              </a:ext>
            </a:extLst>
          </p:cNvPr>
          <p:cNvSpPr>
            <a:spLocks noGrp="1"/>
          </p:cNvSpPr>
          <p:nvPr/>
        </p:nvSpPr>
        <p:spPr>
          <a:xfrm>
            <a:off x="6762750" y="4048125"/>
            <a:ext cx="2000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고등학교 졸업 후 한국으로 와 작은 원룸에서 데모를 만들기 시작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A2E3372-0E77-4B16-9E90-09ED896479F3}"/>
              </a:ext>
            </a:extLst>
          </p:cNvPr>
          <p:cNvSpPr>
            <a:spLocks noGrp="1"/>
          </p:cNvSpPr>
          <p:nvPr/>
        </p:nvSpPr>
        <p:spPr>
          <a:xfrm>
            <a:off x="10296525" y="3295650"/>
            <a:ext cx="190500" cy="190500"/>
          </a:xfrm>
          <a:prstGeom prst="ellipse">
            <a:avLst/>
          </a:prstGeom>
          <a:solidFill>
            <a:srgbClr val="F2B6A0"/>
          </a:solidFill>
          <a:ln w="19050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6D777CD-36BD-4D77-8BC4-43A868F2467C}"/>
              </a:ext>
            </a:extLst>
          </p:cNvPr>
          <p:cNvSpPr>
            <a:spLocks noGrp="1"/>
          </p:cNvSpPr>
          <p:nvPr/>
        </p:nvSpPr>
        <p:spPr>
          <a:xfrm>
            <a:off x="10210800" y="29051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DCA9EA-6493-4A19-A7CB-719DFC2E3AF7}"/>
              </a:ext>
            </a:extLst>
          </p:cNvPr>
          <p:cNvSpPr>
            <a:spLocks noGrp="1"/>
          </p:cNvSpPr>
          <p:nvPr/>
        </p:nvSpPr>
        <p:spPr>
          <a:xfrm>
            <a:off x="9906000" y="370522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Discovered voice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F1657A5-0605-498E-9F18-068C57496666}"/>
              </a:ext>
            </a:extLst>
          </p:cNvPr>
          <p:cNvSpPr>
            <a:spLocks noGrp="1"/>
          </p:cNvSpPr>
          <p:nvPr/>
        </p:nvSpPr>
        <p:spPr>
          <a:xfrm>
            <a:off x="9906000" y="4048125"/>
            <a:ext cx="2000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인스타그램 커버 영상이 조용히 퍼지며 첫 팬층이 생김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432AC34-56A5-46C0-B13B-7C4D26461703}"/>
              </a:ext>
            </a:extLst>
          </p:cNvPr>
          <p:cNvSpPr>
            <a:spLocks noGrp="1"/>
          </p:cNvSpPr>
          <p:nvPr/>
        </p:nvSpPr>
        <p:spPr>
          <a:xfrm>
            <a:off x="8286750" y="1790700"/>
            <a:ext cx="3143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"원룸에서 발견한 목소리"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37C8043-9DB1-4078-872E-A19A2172A07C}"/>
              </a:ext>
            </a:extLst>
          </p:cNvPr>
          <p:cNvSpPr>
            <a:spLocks noGrp="1"/>
          </p:cNvSpPr>
          <p:nvPr/>
        </p:nvSpPr>
        <p:spPr>
          <a:xfrm>
            <a:off x="8324850" y="230505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첫 팬덤 언어는 홍보 문구가 아니라 발견의 감각에서 시작한다.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63F023-E915-403F-9089-66E7AE0174B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@chaea.line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F200FC-024B-4D19-984B-F34A171F7665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7618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3EB27F-9788-474E-A7E9-351CC6C8E1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F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C01EF4AC-4832-4345-AFF2-CD9A06AEF58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85750" cy="19050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91462CC5-9B06-444D-B1C3-0E2B6F73495B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2B6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6A0"/>
                </a:solidFill>
                <a:latin typeface="Aptos"/>
                <a:ea typeface="Aptos"/>
                <a:cs typeface="Aptos"/>
              </a:rPr>
              <a:t>WORLDVIEW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902DDF-1D24-452B-B3D3-5AC4199014AD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429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LINE은 장식이 아니라</a:t>
            </a:r>
          </a:p>
          <a:p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ChaeA 콘텐츠를 움직이는 운영체계다.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07420D-6D3E-48C1-884E-9422E9921C52}"/>
              </a:ext>
            </a:extLst>
          </p:cNvPr>
          <p:cNvSpPr>
            <a:spLocks noGrp="1"/>
          </p:cNvSpPr>
          <p:nvPr/>
        </p:nvSpPr>
        <p:spPr>
          <a:xfrm>
            <a:off x="628650" y="2152650"/>
            <a:ext cx="5810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rPr>
              <a:t>사람과 사람 사이, 언어와 감정 사이, 한국과 미국 사이를 잇는 보이지 않는 선.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25874D-59EA-4F4E-939E-6CFD23E564C8}"/>
              </a:ext>
            </a:extLst>
          </p:cNvPr>
          <p:cNvSpPr>
            <a:spLocks noGrp="1"/>
          </p:cNvSpPr>
          <p:nvPr/>
        </p:nvSpPr>
        <p:spPr>
          <a:xfrm>
            <a:off x="1600200" y="3752850"/>
            <a:ext cx="8953500" cy="28575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5E11515-61B2-4159-ADA8-A8B43CA728B0}"/>
              </a:ext>
            </a:extLst>
          </p:cNvPr>
          <p:cNvSpPr>
            <a:spLocks noGrp="1"/>
          </p:cNvSpPr>
          <p:nvPr/>
        </p:nvSpPr>
        <p:spPr>
          <a:xfrm>
            <a:off x="1543050" y="3676650"/>
            <a:ext cx="180975" cy="180975"/>
          </a:xfrm>
          <a:prstGeom prst="ellipse">
            <a:avLst/>
          </a:prstGeom>
          <a:solidFill>
            <a:srgbClr val="F2B6A0"/>
          </a:solidFill>
          <a:ln w="0">
            <a:solidFill>
              <a:srgbClr val="F2B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258F3D-559B-4764-A0A3-581CDDE73A1D}"/>
              </a:ext>
            </a:extLst>
          </p:cNvPr>
          <p:cNvSpPr>
            <a:spLocks noGrp="1"/>
          </p:cNvSpPr>
          <p:nvPr/>
        </p:nvSpPr>
        <p:spPr>
          <a:xfrm>
            <a:off x="1066800" y="3162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Korea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812EEE-927E-423B-BBCE-04AFA0E4DC68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C8D6E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D6E4"/>
                </a:solidFill>
                <a:latin typeface="Aptos"/>
                <a:ea typeface="Aptos"/>
                <a:cs typeface="Aptos"/>
              </a:rPr>
              <a:t>U.S.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162D457-F95E-4E4A-80D9-290E8C8152A0}"/>
              </a:ext>
            </a:extLst>
          </p:cNvPr>
          <p:cNvSpPr>
            <a:spLocks noGrp="1"/>
          </p:cNvSpPr>
          <p:nvPr/>
        </p:nvSpPr>
        <p:spPr>
          <a:xfrm>
            <a:off x="4495800" y="3676650"/>
            <a:ext cx="180975" cy="180975"/>
          </a:xfrm>
          <a:prstGeom prst="ellipse">
            <a:avLst/>
          </a:prstGeom>
          <a:solidFill>
            <a:srgbClr val="F2B6A0"/>
          </a:solidFill>
          <a:ln w="0">
            <a:solidFill>
              <a:srgbClr val="F2B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A9EA9A-AFE5-4010-A947-A6458A1A478A}"/>
              </a:ext>
            </a:extLst>
          </p:cNvPr>
          <p:cNvSpPr>
            <a:spLocks noGrp="1"/>
          </p:cNvSpPr>
          <p:nvPr/>
        </p:nvSpPr>
        <p:spPr>
          <a:xfrm>
            <a:off x="4019550" y="3162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E642BD-9306-45ED-8F93-DFC83D689B88}"/>
              </a:ext>
            </a:extLst>
          </p:cNvPr>
          <p:cNvSpPr>
            <a:spLocks noGrp="1"/>
          </p:cNvSpPr>
          <p:nvPr/>
        </p:nvSpPr>
        <p:spPr>
          <a:xfrm>
            <a:off x="4019550" y="40957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C8D6E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D6E4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8A528D3-66E4-4206-AECF-878598D9A666}"/>
              </a:ext>
            </a:extLst>
          </p:cNvPr>
          <p:cNvSpPr>
            <a:spLocks noGrp="1"/>
          </p:cNvSpPr>
          <p:nvPr/>
        </p:nvSpPr>
        <p:spPr>
          <a:xfrm>
            <a:off x="7448550" y="3676650"/>
            <a:ext cx="180975" cy="180975"/>
          </a:xfrm>
          <a:prstGeom prst="ellipse">
            <a:avLst/>
          </a:prstGeom>
          <a:solidFill>
            <a:srgbClr val="F2B6A0"/>
          </a:solidFill>
          <a:ln w="0">
            <a:solidFill>
              <a:srgbClr val="F2B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D2FE18-5AC3-407D-B757-7A29AB56F080}"/>
              </a:ext>
            </a:extLst>
          </p:cNvPr>
          <p:cNvSpPr>
            <a:spLocks noGrp="1"/>
          </p:cNvSpPr>
          <p:nvPr/>
        </p:nvSpPr>
        <p:spPr>
          <a:xfrm>
            <a:off x="6972300" y="3162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Unsaid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C46DE84-556F-4F97-8CD3-43B685C81D18}"/>
              </a:ext>
            </a:extLst>
          </p:cNvPr>
          <p:cNvSpPr>
            <a:spLocks noGrp="1"/>
          </p:cNvSpPr>
          <p:nvPr/>
        </p:nvSpPr>
        <p:spPr>
          <a:xfrm>
            <a:off x="6972300" y="40957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C8D6E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D6E4"/>
                </a:solidFill>
                <a:latin typeface="Aptos"/>
                <a:ea typeface="Aptos"/>
                <a:cs typeface="Aptos"/>
              </a:rPr>
              <a:t>Song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D043C71-AF54-4824-9921-AC2285F80A76}"/>
              </a:ext>
            </a:extLst>
          </p:cNvPr>
          <p:cNvSpPr>
            <a:spLocks noGrp="1"/>
          </p:cNvSpPr>
          <p:nvPr/>
        </p:nvSpPr>
        <p:spPr>
          <a:xfrm>
            <a:off x="10401300" y="3676650"/>
            <a:ext cx="180975" cy="180975"/>
          </a:xfrm>
          <a:prstGeom prst="ellipse">
            <a:avLst/>
          </a:prstGeom>
          <a:solidFill>
            <a:srgbClr val="F2B6A0"/>
          </a:solidFill>
          <a:ln w="0">
            <a:solidFill>
              <a:srgbClr val="F2B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7BCA89-C4E7-486C-B812-55DA182AF50B}"/>
              </a:ext>
            </a:extLst>
          </p:cNvPr>
          <p:cNvSpPr>
            <a:spLocks noGrp="1"/>
          </p:cNvSpPr>
          <p:nvPr/>
        </p:nvSpPr>
        <p:spPr>
          <a:xfrm>
            <a:off x="9925050" y="3162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Camera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B93E890-5E57-4898-A266-5E092FE718C0}"/>
              </a:ext>
            </a:extLst>
          </p:cNvPr>
          <p:cNvSpPr>
            <a:spLocks noGrp="1"/>
          </p:cNvSpPr>
          <p:nvPr/>
        </p:nvSpPr>
        <p:spPr>
          <a:xfrm>
            <a:off x="9925050" y="40957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C8D6E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D6E4"/>
                </a:solidFill>
                <a:latin typeface="Aptos"/>
                <a:ea typeface="Aptos"/>
                <a:cs typeface="Aptos"/>
              </a:rPr>
              <a:t>Audience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651505-F2E9-4005-9234-EA7BC6D3169E}"/>
              </a:ext>
            </a:extLst>
          </p:cNvPr>
          <p:cNvSpPr>
            <a:spLocks noGrp="1"/>
          </p:cNvSpPr>
          <p:nvPr/>
        </p:nvSpPr>
        <p:spPr>
          <a:xfrm>
            <a:off x="6705600" y="4991100"/>
            <a:ext cx="4343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ChaeA는 그 선 위에서 노래한다.</a:t>
            </a:r>
          </a:p>
          <a:p>
            <a:pPr algn="l"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어디에도 완전히 속하지 못했던 마음이 언젠가는 누군가에게 닿을 수 있다고 믿으면서.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5F1BE5-BF12-4B95-9F1B-1273ECCD08A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E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ECE"/>
                </a:solidFill>
                <a:latin typeface="Aptos"/>
                <a:ea typeface="Aptos"/>
                <a:cs typeface="Aptos"/>
              </a:rPr>
              <a:t>@chaea.line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A8DCAE-5E3F-48A8-AFD3-2B1BAED1F3F0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EBE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EC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0668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8683BEBF-1464-4801-8D7A-4B6F7F10A6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05-marker">
            <a:extLst>
              <a:ext uri="{FF2B5EF4-FFF2-40B4-BE49-F238E27FC236}">
                <a16:creationId xmlns:a16="http://schemas.microsoft.com/office/drawing/2014/main" id="{D78D3AF7-41D4-45DE-9A56-64CE220EB28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8575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05-label">
            <a:extLst>
              <a:ext uri="{FF2B5EF4-FFF2-40B4-BE49-F238E27FC236}">
                <a16:creationId xmlns:a16="http://schemas.microsoft.com/office/drawing/2014/main" id="{CF420F65-80FC-4965-B3D5-D7A6641B1523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CHARACTER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1511BD-BC9D-4788-9F44-FF11858211AF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286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감정은 말보다 먼저</a:t>
            </a:r>
          </a:p>
          <a:p>
            <a:pPr algn="l">
              <a:defRPr sz="315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노래, 일기, 사진으로 남는다.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C33806-5681-4D8F-904A-A4540EF1B1B8}"/>
              </a:ext>
            </a:extLst>
          </p:cNvPr>
          <p:cNvSpPr>
            <a:spLocks noGrp="1"/>
          </p:cNvSpPr>
          <p:nvPr/>
        </p:nvSpPr>
        <p:spPr>
          <a:xfrm>
            <a:off x="628650" y="2171700"/>
            <a:ext cx="5619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INFJ 성향의 ChaeA는 마음을 바로 설명하기보다 기록하고, 고르고, 다시 부른다. 그 지연 시간이 캐릭터의 결이 된다.</a:t>
            </a:r>
          </a:p>
        </p:txBody>
      </p:sp>
      <p:pic>
        <p:nvPicPr>
          <p:cNvPr id="6" name="그래픽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6800" y="3676650"/>
            <a:ext cx="323850" cy="3238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DCEE368-D05A-4DE7-A4B1-3713F4B93BC4}"/>
              </a:ext>
            </a:extLst>
          </p:cNvPr>
          <p:cNvSpPr>
            <a:spLocks noGrp="1"/>
          </p:cNvSpPr>
          <p:nvPr/>
        </p:nvSpPr>
        <p:spPr>
          <a:xfrm>
            <a:off x="1066800" y="4229100"/>
            <a:ext cx="238125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7AFD49-1807-42D8-AA5E-56A6544D3D45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Lyric Diary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A785EA-E63D-41C9-8B2F-AD7A3183E374}"/>
              </a:ext>
            </a:extLst>
          </p:cNvPr>
          <p:cNvSpPr>
            <a:spLocks noGrp="1"/>
          </p:cNvSpPr>
          <p:nvPr/>
        </p:nvSpPr>
        <p:spPr>
          <a:xfrm>
            <a:off x="1066800" y="4781550"/>
            <a:ext cx="24003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한국어 가사를 쓰며 잃어버린 감정을 다시 배운다.</a:t>
            </a:r>
          </a:p>
        </p:txBody>
      </p:sp>
      <p:pic>
        <p:nvPicPr>
          <p:cNvPr id="10" name="그래픽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95800" y="3676650"/>
            <a:ext cx="323850" cy="32385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8B2D8E-734B-4355-98F9-0F66EC1C8F7F}"/>
              </a:ext>
            </a:extLst>
          </p:cNvPr>
          <p:cNvSpPr>
            <a:spLocks noGrp="1"/>
          </p:cNvSpPr>
          <p:nvPr/>
        </p:nvSpPr>
        <p:spPr>
          <a:xfrm>
            <a:off x="4495800" y="4229100"/>
            <a:ext cx="2381250" cy="19050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780BA1-B8DB-4950-B711-49F532F301FE}"/>
              </a:ext>
            </a:extLst>
          </p:cNvPr>
          <p:cNvSpPr>
            <a:spLocks noGrp="1"/>
          </p:cNvSpPr>
          <p:nvPr/>
        </p:nvSpPr>
        <p:spPr>
          <a:xfrm>
            <a:off x="4495800" y="44005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Digital Camera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B7CF37-7454-4CFB-AE7B-D728DC2951CF}"/>
              </a:ext>
            </a:extLst>
          </p:cNvPr>
          <p:cNvSpPr>
            <a:spLocks noGrp="1"/>
          </p:cNvSpPr>
          <p:nvPr/>
        </p:nvSpPr>
        <p:spPr>
          <a:xfrm>
            <a:off x="4495800" y="4781550"/>
            <a:ext cx="24003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말하기 어려운 순간을 사진으로 먼저 저장한다.</a:t>
            </a:r>
          </a:p>
        </p:txBody>
      </p:sp>
      <p:pic>
        <p:nvPicPr>
          <p:cNvPr id="14" name="그래픽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924800" y="3676650"/>
            <a:ext cx="323850" cy="3238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BCEFF9-4B32-4380-86CB-8325E753B856}"/>
              </a:ext>
            </a:extLst>
          </p:cNvPr>
          <p:cNvSpPr>
            <a:spLocks noGrp="1"/>
          </p:cNvSpPr>
          <p:nvPr/>
        </p:nvSpPr>
        <p:spPr>
          <a:xfrm>
            <a:off x="7924800" y="4229100"/>
            <a:ext cx="238125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383E9E-DB21-42F8-B1F1-73B51A6840F6}"/>
              </a:ext>
            </a:extLst>
          </p:cNvPr>
          <p:cNvSpPr>
            <a:spLocks noGrp="1"/>
          </p:cNvSpPr>
          <p:nvPr/>
        </p:nvSpPr>
        <p:spPr>
          <a:xfrm>
            <a:off x="7924800" y="44005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Room Cover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C242CC-9BBD-4F5C-94CC-7662E89E1121}"/>
              </a:ext>
            </a:extLst>
          </p:cNvPr>
          <p:cNvSpPr>
            <a:spLocks noGrp="1"/>
          </p:cNvSpPr>
          <p:nvPr/>
        </p:nvSpPr>
        <p:spPr>
          <a:xfrm>
            <a:off x="7924800" y="4781550"/>
            <a:ext cx="24003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커버곡은 모방이 아니라 자기 마음을 번역하는 방식이다.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720D255-43A5-4D5D-BAD3-F81ADFFC9CDC}"/>
              </a:ext>
            </a:extLst>
          </p:cNvPr>
          <p:cNvSpPr>
            <a:spLocks noGrp="1"/>
          </p:cNvSpPr>
          <p:nvPr/>
        </p:nvSpPr>
        <p:spPr>
          <a:xfrm>
            <a:off x="8153400" y="11620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Character rule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90ED65-B7F9-4CC4-B855-32EBBFFAFC3E}"/>
              </a:ext>
            </a:extLst>
          </p:cNvPr>
          <p:cNvSpPr>
            <a:spLocks noGrp="1"/>
          </p:cNvSpPr>
          <p:nvPr/>
        </p:nvSpPr>
        <p:spPr>
          <a:xfrm>
            <a:off x="8134350" y="1447800"/>
            <a:ext cx="2857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dirty="0" err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완벽하게</a:t>
            </a:r>
            <a:r>
              <a:rPr sz="1800" b="1" dirty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말하는</a:t>
            </a:r>
            <a:r>
              <a:rPr sz="1800" b="1" dirty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캐릭터보다</a:t>
            </a:r>
            <a:r>
              <a:rPr sz="1800" b="1" dirty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</a:p>
          <a:p>
            <a:pPr algn="l">
              <a:defRPr sz="1800" b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dirty="0" err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800" b="1" dirty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단어를</a:t>
            </a:r>
            <a:r>
              <a:rPr sz="1800" b="1" dirty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오래</a:t>
            </a:r>
            <a:r>
              <a:rPr sz="1800" b="1" dirty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바라보는</a:t>
            </a:r>
            <a:r>
              <a:rPr sz="1800" b="1" dirty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캐릭</a:t>
            </a:r>
            <a:r>
              <a:rPr lang="ko-KR" altLang="en-US" sz="1800" b="1" dirty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터</a:t>
            </a:r>
            <a:endParaRPr sz="1800" b="1" dirty="0">
              <a:solidFill>
                <a:srgbClr val="1C2F4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B4A680-B87E-4FE5-9454-F59C5F43985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@chaea.line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9613517-87AC-4B76-9A86-E9FF9914A747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7347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B71475-D610-4DB5-9879-1F5987D2DE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06-marker">
            <a:extLst>
              <a:ext uri="{FF2B5EF4-FFF2-40B4-BE49-F238E27FC236}">
                <a16:creationId xmlns:a16="http://schemas.microsoft.com/office/drawing/2014/main" id="{679115EA-092C-428B-8932-AEDCE3C7A71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8575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06-label">
            <a:extLst>
              <a:ext uri="{FF2B5EF4-FFF2-40B4-BE49-F238E27FC236}">
                <a16:creationId xmlns:a16="http://schemas.microsoft.com/office/drawing/2014/main" id="{42DD3FBF-3D04-4118-AB4D-9137E0072026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MUSIC DIRECTION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14B8FE-1B6D-4521-929F-C2A505B790D5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762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작은 방의 숨소리가</a:t>
            </a:r>
          </a:p>
          <a:p>
            <a:pPr algn="l">
              <a:def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후반부에 K-POP 감정선으로 커진다.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241D2A-B985-4ABF-9837-E61EE8D7A6B2}"/>
              </a:ext>
            </a:extLst>
          </p:cNvPr>
          <p:cNvSpPr>
            <a:spLocks noGrp="1"/>
          </p:cNvSpPr>
          <p:nvPr/>
        </p:nvSpPr>
        <p:spPr>
          <a:xfrm>
            <a:off x="628650" y="2171700"/>
            <a:ext cx="628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피아노, 부드러운 신스, 어쿠스틱 기타, 낮은 호흡의 보컬. ChaeA의 곡은 조용히 시작해 감정이 뒤늦게 열리는 구조가 어울린다.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A90ECC-9B1F-4E8B-86C8-5758C253A212}"/>
              </a:ext>
            </a:extLst>
          </p:cNvPr>
          <p:cNvSpPr>
            <a:spLocks noGrp="1"/>
          </p:cNvSpPr>
          <p:nvPr/>
        </p:nvSpPr>
        <p:spPr>
          <a:xfrm>
            <a:off x="1219200" y="4838700"/>
            <a:ext cx="666750" cy="781050"/>
          </a:xfrm>
          <a:prstGeom prst="rect">
            <a:avLst/>
          </a:prstGeom>
          <a:solidFill>
            <a:srgbClr val="DCE7F1"/>
          </a:solidFill>
          <a:ln w="9525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FC34AC-4138-42CF-AD25-7F150843BDA9}"/>
              </a:ext>
            </a:extLst>
          </p:cNvPr>
          <p:cNvSpPr>
            <a:spLocks noGrp="1"/>
          </p:cNvSpPr>
          <p:nvPr/>
        </p:nvSpPr>
        <p:spPr>
          <a:xfrm>
            <a:off x="1085850" y="5772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Intro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AEDF4F-F04B-4640-AFA4-EB0B8504DAE3}"/>
              </a:ext>
            </a:extLst>
          </p:cNvPr>
          <p:cNvSpPr>
            <a:spLocks noGrp="1"/>
          </p:cNvSpPr>
          <p:nvPr/>
        </p:nvSpPr>
        <p:spPr>
          <a:xfrm>
            <a:off x="895350" y="43053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B41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4146"/>
                </a:solidFill>
                <a:latin typeface="Aptos"/>
                <a:ea typeface="Aptos"/>
                <a:cs typeface="Aptos"/>
              </a:rPr>
              <a:t>room tone</a:t>
            </a:r>
          </a:p>
          <a:p>
            <a:pPr algn="ctr">
              <a:defRPr sz="1050" b="0">
                <a:solidFill>
                  <a:srgbClr val="3B41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4146"/>
                </a:solidFill>
                <a:latin typeface="Aptos"/>
                <a:ea typeface="Aptos"/>
                <a:cs typeface="Aptos"/>
              </a:rPr>
              <a:t>piano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9F72CF-B9A5-456F-92E9-DEF1CD4A1541}"/>
              </a:ext>
            </a:extLst>
          </p:cNvPr>
          <p:cNvSpPr>
            <a:spLocks noGrp="1"/>
          </p:cNvSpPr>
          <p:nvPr/>
        </p:nvSpPr>
        <p:spPr>
          <a:xfrm>
            <a:off x="3124200" y="4362450"/>
            <a:ext cx="666750" cy="1257300"/>
          </a:xfrm>
          <a:prstGeom prst="rect">
            <a:avLst/>
          </a:prstGeom>
          <a:solidFill>
            <a:srgbClr val="DCE7F1"/>
          </a:solidFill>
          <a:ln w="9525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478FF-4EBC-4BD9-97C2-BBBDFEE312BE}"/>
              </a:ext>
            </a:extLst>
          </p:cNvPr>
          <p:cNvSpPr>
            <a:spLocks noGrp="1"/>
          </p:cNvSpPr>
          <p:nvPr/>
        </p:nvSpPr>
        <p:spPr>
          <a:xfrm>
            <a:off x="2990850" y="5772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Verse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A5E367-E26B-48D7-9FA8-8FD259B4889A}"/>
              </a:ext>
            </a:extLst>
          </p:cNvPr>
          <p:cNvSpPr>
            <a:spLocks noGrp="1"/>
          </p:cNvSpPr>
          <p:nvPr/>
        </p:nvSpPr>
        <p:spPr>
          <a:xfrm>
            <a:off x="2800350" y="382905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B41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4146"/>
                </a:solidFill>
                <a:latin typeface="Aptos"/>
                <a:ea typeface="Aptos"/>
                <a:cs typeface="Aptos"/>
              </a:rPr>
              <a:t>low breath</a:t>
            </a:r>
          </a:p>
          <a:p>
            <a:pPr algn="ctr">
              <a:defRPr sz="1050" b="0">
                <a:solidFill>
                  <a:srgbClr val="3B41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4146"/>
                </a:solidFill>
                <a:latin typeface="Aptos"/>
                <a:ea typeface="Aptos"/>
                <a:cs typeface="Aptos"/>
              </a:rPr>
              <a:t>vocal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F884BE-C7DD-4A7E-99B5-A6C42452B313}"/>
              </a:ext>
            </a:extLst>
          </p:cNvPr>
          <p:cNvSpPr>
            <a:spLocks noGrp="1"/>
          </p:cNvSpPr>
          <p:nvPr/>
        </p:nvSpPr>
        <p:spPr>
          <a:xfrm>
            <a:off x="5029200" y="3829050"/>
            <a:ext cx="666750" cy="1790700"/>
          </a:xfrm>
          <a:prstGeom prst="rect">
            <a:avLst/>
          </a:prstGeom>
          <a:solidFill>
            <a:srgbClr val="DCE7F1"/>
          </a:solidFill>
          <a:ln w="9525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89DD83-59A8-459E-B33B-9519F5D115D2}"/>
              </a:ext>
            </a:extLst>
          </p:cNvPr>
          <p:cNvSpPr>
            <a:spLocks noGrp="1"/>
          </p:cNvSpPr>
          <p:nvPr/>
        </p:nvSpPr>
        <p:spPr>
          <a:xfrm>
            <a:off x="4895850" y="5772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Pre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4FC4FC-DD40-48F8-9D00-258CF55796CC}"/>
              </a:ext>
            </a:extLst>
          </p:cNvPr>
          <p:cNvSpPr>
            <a:spLocks noGrp="1"/>
          </p:cNvSpPr>
          <p:nvPr/>
        </p:nvSpPr>
        <p:spPr>
          <a:xfrm>
            <a:off x="4705350" y="329565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B41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4146"/>
                </a:solidFill>
                <a:latin typeface="Aptos"/>
                <a:ea typeface="Aptos"/>
                <a:cs typeface="Aptos"/>
              </a:rPr>
              <a:t>soft synth</a:t>
            </a:r>
          </a:p>
          <a:p>
            <a:pPr algn="ctr">
              <a:defRPr sz="1050" b="0">
                <a:solidFill>
                  <a:srgbClr val="3B41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4146"/>
                </a:solidFill>
                <a:latin typeface="Aptos"/>
                <a:ea typeface="Aptos"/>
                <a:cs typeface="Aptos"/>
              </a:rPr>
              <a:t>rise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1A5B0C-B421-43A3-9FEC-0194D18B5AF5}"/>
              </a:ext>
            </a:extLst>
          </p:cNvPr>
          <p:cNvSpPr>
            <a:spLocks noGrp="1"/>
          </p:cNvSpPr>
          <p:nvPr/>
        </p:nvSpPr>
        <p:spPr>
          <a:xfrm>
            <a:off x="6934200" y="3181350"/>
            <a:ext cx="666750" cy="2438400"/>
          </a:xfrm>
          <a:prstGeom prst="rect">
            <a:avLst/>
          </a:prstGeom>
          <a:solidFill>
            <a:srgbClr val="F2B6A0"/>
          </a:solidFill>
          <a:ln w="9525">
            <a:solidFill>
              <a:srgbClr val="F2B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D2D578-1826-4C58-BD33-32F3D8BEF528}"/>
              </a:ext>
            </a:extLst>
          </p:cNvPr>
          <p:cNvSpPr>
            <a:spLocks noGrp="1"/>
          </p:cNvSpPr>
          <p:nvPr/>
        </p:nvSpPr>
        <p:spPr>
          <a:xfrm>
            <a:off x="6800850" y="5772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Chorus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08281D-FFFB-48E4-A4D7-903972E82767}"/>
              </a:ext>
            </a:extLst>
          </p:cNvPr>
          <p:cNvSpPr>
            <a:spLocks noGrp="1"/>
          </p:cNvSpPr>
          <p:nvPr/>
        </p:nvSpPr>
        <p:spPr>
          <a:xfrm>
            <a:off x="6610350" y="302895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B41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4146"/>
                </a:solidFill>
                <a:latin typeface="Aptos"/>
                <a:ea typeface="Aptos"/>
                <a:cs typeface="Aptos"/>
              </a:rPr>
              <a:t>indie pop</a:t>
            </a:r>
          </a:p>
          <a:p>
            <a:pPr algn="ctr">
              <a:defRPr sz="1050" b="0">
                <a:solidFill>
                  <a:srgbClr val="3B41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4146"/>
                </a:solidFill>
                <a:latin typeface="Aptos"/>
                <a:ea typeface="Aptos"/>
                <a:cs typeface="Aptos"/>
              </a:rPr>
              <a:t>emotion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CCB9EF0-B1FE-45DF-BA8B-E78A141B0FFC}"/>
              </a:ext>
            </a:extLst>
          </p:cNvPr>
          <p:cNvSpPr>
            <a:spLocks noGrp="1"/>
          </p:cNvSpPr>
          <p:nvPr/>
        </p:nvSpPr>
        <p:spPr>
          <a:xfrm>
            <a:off x="8839200" y="4629150"/>
            <a:ext cx="666750" cy="990600"/>
          </a:xfrm>
          <a:prstGeom prst="rect">
            <a:avLst/>
          </a:prstGeom>
          <a:solidFill>
            <a:srgbClr val="DCE7F1"/>
          </a:solidFill>
          <a:ln w="9525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853AC64-6A44-47E8-A9EB-F7FECE165E85}"/>
              </a:ext>
            </a:extLst>
          </p:cNvPr>
          <p:cNvSpPr>
            <a:spLocks noGrp="1"/>
          </p:cNvSpPr>
          <p:nvPr/>
        </p:nvSpPr>
        <p:spPr>
          <a:xfrm>
            <a:off x="8705850" y="5772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Outro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C9B5F6-3462-4950-8084-1A6592792DA6}"/>
              </a:ext>
            </a:extLst>
          </p:cNvPr>
          <p:cNvSpPr>
            <a:spLocks noGrp="1"/>
          </p:cNvSpPr>
          <p:nvPr/>
        </p:nvSpPr>
        <p:spPr>
          <a:xfrm>
            <a:off x="8515350" y="409575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B41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4146"/>
                </a:solidFill>
                <a:latin typeface="Aptos"/>
                <a:ea typeface="Aptos"/>
                <a:cs typeface="Aptos"/>
              </a:rPr>
              <a:t>piano</a:t>
            </a:r>
          </a:p>
          <a:p>
            <a:pPr algn="ctr">
              <a:defRPr sz="1050" b="0">
                <a:solidFill>
                  <a:srgbClr val="3B41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4146"/>
                </a:solidFill>
                <a:latin typeface="Aptos"/>
                <a:ea typeface="Aptos"/>
                <a:cs typeface="Aptos"/>
              </a:rPr>
              <a:t>remains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703F81C-BC89-4753-9446-99BA5E05BFCA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9886950" cy="9525"/>
          </a:xfrm>
          <a:prstGeom prst="rect">
            <a:avLst/>
          </a:prstGeom>
          <a:solidFill>
            <a:srgbClr val="D8C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15523F-44C1-45BF-B046-FAD8B6BA4ED0}"/>
              </a:ext>
            </a:extLst>
          </p:cNvPr>
          <p:cNvSpPr>
            <a:spLocks noGrp="1"/>
          </p:cNvSpPr>
          <p:nvPr/>
        </p:nvSpPr>
        <p:spPr>
          <a:xfrm>
            <a:off x="1562100" y="6172200"/>
            <a:ext cx="805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Lyric themes: 말하지 못한 고백 / 두 언어 사이의 표현 / 서울의 작은 방 / 누군가에게 닿는 편지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18862C-11D8-4C88-B4BC-7FD671CE306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@chaea.line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5870FA-61B1-483D-9984-A8881C9205F6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5984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3507C82C-8959-4756-9FC2-AFD8B2AA76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rcRect t="12093" b="12093"/>
          <a:stretch>
            <a:fillRect/>
          </a:stretch>
        </p:blipFill>
        <p:spPr>
          <a:xfrm>
            <a:off x="400050" y="400050"/>
            <a:ext cx="4495800" cy="60579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rcRect t="30420" b="30420"/>
          <a:stretch>
            <a:fillRect/>
          </a:stretch>
        </p:blipFill>
        <p:spPr>
          <a:xfrm>
            <a:off x="5219700" y="4629150"/>
            <a:ext cx="2381250" cy="16573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rcRect t="8996" b="8996"/>
          <a:stretch>
            <a:fillRect/>
          </a:stretch>
        </p:blipFill>
        <p:spPr>
          <a:xfrm>
            <a:off x="7867650" y="4629150"/>
            <a:ext cx="3581400" cy="1657350"/>
          </a:xfrm>
          <a:prstGeom prst="rect">
            <a:avLst/>
          </a:prstGeom>
        </p:spPr>
      </p:pic>
      <p:sp>
        <p:nvSpPr>
          <p:cNvPr id="5" name="kicker-07-marker">
            <a:extLst>
              <a:ext uri="{FF2B5EF4-FFF2-40B4-BE49-F238E27FC236}">
                <a16:creationId xmlns:a16="http://schemas.microsoft.com/office/drawing/2014/main" id="{FE9F6B67-F73D-4EBA-80F3-884AFD27FDB7}"/>
              </a:ext>
            </a:extLst>
          </p:cNvPr>
          <p:cNvSpPr>
            <a:spLocks noGrp="1"/>
          </p:cNvSpPr>
          <p:nvPr/>
        </p:nvSpPr>
        <p:spPr>
          <a:xfrm>
            <a:off x="5219700" y="552450"/>
            <a:ext cx="28575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7-label">
            <a:extLst>
              <a:ext uri="{FF2B5EF4-FFF2-40B4-BE49-F238E27FC236}">
                <a16:creationId xmlns:a16="http://schemas.microsoft.com/office/drawing/2014/main" id="{FDD1E0A2-B7A9-4A7B-AC38-A029A75EE7A5}"/>
              </a:ext>
            </a:extLst>
          </p:cNvPr>
          <p:cNvSpPr>
            <a:spLocks noGrp="1"/>
          </p:cNvSpPr>
          <p:nvPr/>
        </p:nvSpPr>
        <p:spPr>
          <a:xfrm>
            <a:off x="5619750" y="4572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VISUAL IDENTITY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27CBE6-44C8-43B7-81A9-70E7BEF19F59}"/>
              </a:ext>
            </a:extLst>
          </p:cNvPr>
          <p:cNvSpPr>
            <a:spLocks noGrp="1"/>
          </p:cNvSpPr>
          <p:nvPr/>
        </p:nvSpPr>
        <p:spPr>
          <a:xfrm>
            <a:off x="5219700" y="895350"/>
            <a:ext cx="5810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레퍼런스 이미지는 이미</a:t>
            </a:r>
          </a:p>
          <a:p>
            <a:pPr algn="l">
              <a:defRPr sz="2775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ChaeA의 얼굴과 온도를 정하고 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066232-6F4C-4345-93E1-E2EDEFE9D09C}"/>
              </a:ext>
            </a:extLst>
          </p:cNvPr>
          <p:cNvSpPr>
            <a:spLocks noGrp="1"/>
          </p:cNvSpPr>
          <p:nvPr/>
        </p:nvSpPr>
        <p:spPr>
          <a:xfrm>
            <a:off x="5238750" y="2133600"/>
            <a:ext cx="55054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밝은 원룸, 웨이브 헤어, 피치톤 메이크업, 얇은 실버 목걸이. 이미지는 과하게 가상적이기보다 실제 싱어송라이터의 기록처럼 보여야 한다.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6E571D-8043-4F8A-9670-72FC84833C2B}"/>
              </a:ext>
            </a:extLst>
          </p:cNvPr>
          <p:cNvSpPr>
            <a:spLocks noGrp="1"/>
          </p:cNvSpPr>
          <p:nvPr/>
        </p:nvSpPr>
        <p:spPr>
          <a:xfrm>
            <a:off x="5238750" y="3181350"/>
            <a:ext cx="5429250" cy="19050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B12A1C-6C82-4B60-B345-637572DFE76D}"/>
              </a:ext>
            </a:extLst>
          </p:cNvPr>
          <p:cNvSpPr>
            <a:spLocks noGrp="1"/>
          </p:cNvSpPr>
          <p:nvPr/>
        </p:nvSpPr>
        <p:spPr>
          <a:xfrm>
            <a:off x="5314950" y="33337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긴 웨이브 헤어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DC2424-56BD-478D-BD23-967072378106}"/>
              </a:ext>
            </a:extLst>
          </p:cNvPr>
          <p:cNvSpPr>
            <a:spLocks noGrp="1"/>
          </p:cNvSpPr>
          <p:nvPr/>
        </p:nvSpPr>
        <p:spPr>
          <a:xfrm>
            <a:off x="7791450" y="33337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왼쪽 눈 아래 작은 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07A776-7ABD-414A-A2AE-2AB8992D6325}"/>
              </a:ext>
            </a:extLst>
          </p:cNvPr>
          <p:cNvSpPr>
            <a:spLocks noGrp="1"/>
          </p:cNvSpPr>
          <p:nvPr/>
        </p:nvSpPr>
        <p:spPr>
          <a:xfrm>
            <a:off x="5314950" y="36195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아이보리 니트와 자연광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B0F7B8-F451-41C9-8981-C3C253B9103D}"/>
              </a:ext>
            </a:extLst>
          </p:cNvPr>
          <p:cNvSpPr>
            <a:spLocks noGrp="1"/>
          </p:cNvSpPr>
          <p:nvPr/>
        </p:nvSpPr>
        <p:spPr>
          <a:xfrm>
            <a:off x="7791450" y="36195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디지털카메라 감성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A74705-478B-4890-AC29-073C441208FC}"/>
              </a:ext>
            </a:extLst>
          </p:cNvPr>
          <p:cNvSpPr>
            <a:spLocks noGrp="1"/>
          </p:cNvSpPr>
          <p:nvPr/>
        </p:nvSpPr>
        <p:spPr>
          <a:xfrm>
            <a:off x="5314950" y="39052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차분한 보컬리스트 인상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3594FB-380F-4001-B66E-31A2CA7B3150}"/>
              </a:ext>
            </a:extLst>
          </p:cNvPr>
          <p:cNvSpPr>
            <a:spLocks noGrp="1"/>
          </p:cNvSpPr>
          <p:nvPr/>
        </p:nvSpPr>
        <p:spPr>
          <a:xfrm>
            <a:off x="5219700" y="6419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@chaea.line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EEAA69-090A-43EA-9CD4-67820B137915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0276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69DD4BD0-92EC-4166-B29E-DB1F6DBF44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9DD4E4C7-DACD-41F1-B84D-4D4091D7AC2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8575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B1E24288-C165-4910-8381-39FFFAB4D919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SNS SYSTEM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68F7C5-9868-41AC-851F-454B675F792F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858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SNS는 데뷔 공지보다</a:t>
            </a:r>
          </a:p>
          <a:p>
            <a:pPr algn="l">
              <a:def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팬들이 먼저 발견한 방처럼 운영한다.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DDA0DB-3558-40A6-970A-9665647544B7}"/>
              </a:ext>
            </a:extLst>
          </p:cNvPr>
          <p:cNvSpPr>
            <a:spLocks noGrp="1"/>
          </p:cNvSpPr>
          <p:nvPr/>
        </p:nvSpPr>
        <p:spPr>
          <a:xfrm>
            <a:off x="628650" y="2171700"/>
            <a:ext cx="6572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핵심 채널은 Instagram, TikTok, YouTube. 계정명 @chaea.line을 중심으로 커버, 일기, 단어, 사진, 데모를 하나의 LINE으로 엮는다.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9EB2693-160B-4805-8038-9D97EBBDCCA3}"/>
              </a:ext>
            </a:extLst>
          </p:cNvPr>
          <p:cNvSpPr>
            <a:spLocks noGrp="1"/>
          </p:cNvSpPr>
          <p:nvPr/>
        </p:nvSpPr>
        <p:spPr>
          <a:xfrm>
            <a:off x="5029200" y="4000500"/>
            <a:ext cx="2133600" cy="800100"/>
          </a:xfrm>
          <a:prstGeom prst="ellipse">
            <a:avLst/>
          </a:prstGeom>
          <a:solidFill>
            <a:srgbClr val="1C2F44"/>
          </a:solidFill>
          <a:ln w="0">
            <a:solidFill>
              <a:srgbClr val="1C2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A31577-D172-48EA-986C-B3651205C75D}"/>
              </a:ext>
            </a:extLst>
          </p:cNvPr>
          <p:cNvSpPr>
            <a:spLocks noGrp="1"/>
          </p:cNvSpPr>
          <p:nvPr/>
        </p:nvSpPr>
        <p:spPr>
          <a:xfrm>
            <a:off x="5334000" y="4257675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@chaea.line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65ADD6-22B9-40F9-ADDF-E39DCE4AA9DA}"/>
              </a:ext>
            </a:extLst>
          </p:cNvPr>
          <p:cNvSpPr>
            <a:spLocks noGrp="1"/>
          </p:cNvSpPr>
          <p:nvPr/>
        </p:nvSpPr>
        <p:spPr>
          <a:xfrm>
            <a:off x="2667000" y="3829050"/>
            <a:ext cx="3429000" cy="9525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5FD24D1B-A7F7-4EBA-9B96-ECE3A2EACFA5}"/>
              </a:ext>
            </a:extLst>
          </p:cNvPr>
          <p:cNvSpPr>
            <a:spLocks noGrp="1"/>
          </p:cNvSpPr>
          <p:nvPr/>
        </p:nvSpPr>
        <p:spPr>
          <a:xfrm>
            <a:off x="1809750" y="3543300"/>
            <a:ext cx="1695450" cy="685800"/>
          </a:xfrm>
          <a:prstGeom prst="roundRect">
            <a:avLst>
              <a:gd name="adj" fmla="val 11111"/>
            </a:avLst>
          </a:prstGeom>
          <a:solidFill>
            <a:srgbClr val="DCE7F1"/>
          </a:solidFill>
          <a:ln w="9525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02BC48-8758-4AB4-89AC-85E1B0B15EF2}"/>
              </a:ext>
            </a:extLst>
          </p:cNvPr>
          <p:cNvSpPr>
            <a:spLocks noGrp="1"/>
          </p:cNvSpPr>
          <p:nvPr/>
        </p:nvSpPr>
        <p:spPr>
          <a:xfrm>
            <a:off x="1924050" y="36766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Room Cover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4624F1-284E-4E58-A59E-4C34C00B5356}"/>
              </a:ext>
            </a:extLst>
          </p:cNvPr>
          <p:cNvSpPr>
            <a:spLocks noGrp="1"/>
          </p:cNvSpPr>
          <p:nvPr/>
        </p:nvSpPr>
        <p:spPr>
          <a:xfrm>
            <a:off x="4000500" y="4000500"/>
            <a:ext cx="2095500" cy="9525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F6A0B52-64D8-4957-A356-ECAA7D4B0737}"/>
              </a:ext>
            </a:extLst>
          </p:cNvPr>
          <p:cNvSpPr>
            <a:spLocks noGrp="1"/>
          </p:cNvSpPr>
          <p:nvPr/>
        </p:nvSpPr>
        <p:spPr>
          <a:xfrm>
            <a:off x="3143250" y="5067300"/>
            <a:ext cx="1695450" cy="685800"/>
          </a:xfrm>
          <a:prstGeom prst="roundRect">
            <a:avLst>
              <a:gd name="adj" fmla="val 11111"/>
            </a:avLst>
          </a:prstGeom>
          <a:solidFill>
            <a:srgbClr val="FBE1D7"/>
          </a:solidFill>
          <a:ln w="9525">
            <a:solidFill>
              <a:srgbClr val="F2B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9D9419-D0C2-4A56-81C5-9E945DAACB31}"/>
              </a:ext>
            </a:extLst>
          </p:cNvPr>
          <p:cNvSpPr>
            <a:spLocks noGrp="1"/>
          </p:cNvSpPr>
          <p:nvPr/>
        </p:nvSpPr>
        <p:spPr>
          <a:xfrm>
            <a:off x="3257550" y="52006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Lyric Diary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C2C594-4BFE-4B15-9A6D-7E860A4670D1}"/>
              </a:ext>
            </a:extLst>
          </p:cNvPr>
          <p:cNvSpPr>
            <a:spLocks noGrp="1"/>
          </p:cNvSpPr>
          <p:nvPr/>
        </p:nvSpPr>
        <p:spPr>
          <a:xfrm>
            <a:off x="6096000" y="4000500"/>
            <a:ext cx="304800" cy="9525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48BC88D-AC9D-495A-8136-352332B9AC49}"/>
              </a:ext>
            </a:extLst>
          </p:cNvPr>
          <p:cNvSpPr>
            <a:spLocks noGrp="1"/>
          </p:cNvSpPr>
          <p:nvPr/>
        </p:nvSpPr>
        <p:spPr>
          <a:xfrm>
            <a:off x="5543550" y="5581650"/>
            <a:ext cx="1695450" cy="685800"/>
          </a:xfrm>
          <a:prstGeom prst="roundRect">
            <a:avLst>
              <a:gd name="adj" fmla="val 11111"/>
            </a:avLst>
          </a:prstGeom>
          <a:solidFill>
            <a:srgbClr val="DCE7F1"/>
          </a:solidFill>
          <a:ln w="9525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B197AE-9DCC-4B95-B93F-5C128E451FAD}"/>
              </a:ext>
            </a:extLst>
          </p:cNvPr>
          <p:cNvSpPr>
            <a:spLocks noGrp="1"/>
          </p:cNvSpPr>
          <p:nvPr/>
        </p:nvSpPr>
        <p:spPr>
          <a:xfrm>
            <a:off x="5657850" y="571500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Word Collection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F3493B-1A6C-4161-96EF-9E017C390D1F}"/>
              </a:ext>
            </a:extLst>
          </p:cNvPr>
          <p:cNvSpPr>
            <a:spLocks noGrp="1"/>
          </p:cNvSpPr>
          <p:nvPr/>
        </p:nvSpPr>
        <p:spPr>
          <a:xfrm>
            <a:off x="6096000" y="4000500"/>
            <a:ext cx="2667000" cy="9525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6BF3D8DC-7458-4D98-9975-F0C9501D5F11}"/>
              </a:ext>
            </a:extLst>
          </p:cNvPr>
          <p:cNvSpPr>
            <a:spLocks noGrp="1"/>
          </p:cNvSpPr>
          <p:nvPr/>
        </p:nvSpPr>
        <p:spPr>
          <a:xfrm>
            <a:off x="7905750" y="5067300"/>
            <a:ext cx="1695450" cy="685800"/>
          </a:xfrm>
          <a:prstGeom prst="roundRect">
            <a:avLst>
              <a:gd name="adj" fmla="val 11111"/>
            </a:avLst>
          </a:prstGeom>
          <a:solidFill>
            <a:srgbClr val="FBE1D7"/>
          </a:solidFill>
          <a:ln w="9525">
            <a:solidFill>
              <a:srgbClr val="F2B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763AA3-0642-43A9-939F-BC473229D525}"/>
              </a:ext>
            </a:extLst>
          </p:cNvPr>
          <p:cNvSpPr>
            <a:spLocks noGrp="1"/>
          </p:cNvSpPr>
          <p:nvPr/>
        </p:nvSpPr>
        <p:spPr>
          <a:xfrm>
            <a:off x="8020050" y="52006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Digital Camera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0547A8-3195-4775-ADB2-4349DF690A91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3924300" cy="9525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0DB97F12-82E8-48C2-A8DF-5FC9E6ED85D7}"/>
              </a:ext>
            </a:extLst>
          </p:cNvPr>
          <p:cNvSpPr>
            <a:spLocks noGrp="1"/>
          </p:cNvSpPr>
          <p:nvPr/>
        </p:nvSpPr>
        <p:spPr>
          <a:xfrm>
            <a:off x="9163050" y="3543300"/>
            <a:ext cx="1695450" cy="685800"/>
          </a:xfrm>
          <a:prstGeom prst="roundRect">
            <a:avLst>
              <a:gd name="adj" fmla="val 11111"/>
            </a:avLst>
          </a:prstGeom>
          <a:solidFill>
            <a:srgbClr val="DCE7F1"/>
          </a:solidFill>
          <a:ln w="9525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8B505DC-FEE9-4F02-99DA-D8DF3334357B}"/>
              </a:ext>
            </a:extLst>
          </p:cNvPr>
          <p:cNvSpPr>
            <a:spLocks noGrp="1"/>
          </p:cNvSpPr>
          <p:nvPr/>
        </p:nvSpPr>
        <p:spPr>
          <a:xfrm>
            <a:off x="9277350" y="36766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From California</a:t>
            </a:r>
          </a:p>
          <a:p>
            <a:pPr algn="ctr">
              <a:defRPr sz="1125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to Seoul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17C9EF6-CDEC-43B8-8314-841A8C5E5A4F}"/>
              </a:ext>
            </a:extLst>
          </p:cNvPr>
          <p:cNvSpPr>
            <a:spLocks noGrp="1"/>
          </p:cNvSpPr>
          <p:nvPr/>
        </p:nvSpPr>
        <p:spPr>
          <a:xfrm>
            <a:off x="6096000" y="3371850"/>
            <a:ext cx="2286000" cy="9525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8B348E6-6482-431D-9365-D37168A233F0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1695450" cy="685800"/>
          </a:xfrm>
          <a:prstGeom prst="roundRect">
            <a:avLst>
              <a:gd name="adj" fmla="val 11111"/>
            </a:avLst>
          </a:prstGeom>
          <a:solidFill>
            <a:srgbClr val="FBE1D7"/>
          </a:solidFill>
          <a:ln w="9525">
            <a:solidFill>
              <a:srgbClr val="F2B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300B6E-62C9-4828-AA6E-EB557CFB5B63}"/>
              </a:ext>
            </a:extLst>
          </p:cNvPr>
          <p:cNvSpPr>
            <a:spLocks noGrp="1"/>
          </p:cNvSpPr>
          <p:nvPr/>
        </p:nvSpPr>
        <p:spPr>
          <a:xfrm>
            <a:off x="7639050" y="32194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Demo Note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3820075-5275-436E-8634-28445E25DEA3}"/>
              </a:ext>
            </a:extLst>
          </p:cNvPr>
          <p:cNvSpPr>
            <a:spLocks noGrp="1"/>
          </p:cNvSpPr>
          <p:nvPr/>
        </p:nvSpPr>
        <p:spPr>
          <a:xfrm>
            <a:off x="4286250" y="3371850"/>
            <a:ext cx="1809750" cy="9525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0F6B552A-13C5-4F66-BBEA-2DE9B0C95A06}"/>
              </a:ext>
            </a:extLst>
          </p:cNvPr>
          <p:cNvSpPr>
            <a:spLocks noGrp="1"/>
          </p:cNvSpPr>
          <p:nvPr/>
        </p:nvSpPr>
        <p:spPr>
          <a:xfrm>
            <a:off x="3429000" y="3086100"/>
            <a:ext cx="1695450" cy="685800"/>
          </a:xfrm>
          <a:prstGeom prst="roundRect">
            <a:avLst>
              <a:gd name="adj" fmla="val 11111"/>
            </a:avLst>
          </a:prstGeom>
          <a:solidFill>
            <a:srgbClr val="DCE7F1"/>
          </a:solidFill>
          <a:ln w="9525">
            <a:solidFill>
              <a:srgbClr val="5D7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A59B279-E961-4F9F-9CC9-8BF5DA3370F4}"/>
              </a:ext>
            </a:extLst>
          </p:cNvPr>
          <p:cNvSpPr>
            <a:spLocks noGrp="1"/>
          </p:cNvSpPr>
          <p:nvPr/>
        </p:nvSpPr>
        <p:spPr>
          <a:xfrm>
            <a:off x="3543300" y="32194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F24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428"/>
                </a:solidFill>
                <a:latin typeface="Aptos"/>
                <a:ea typeface="Aptos"/>
                <a:cs typeface="Aptos"/>
              </a:rPr>
              <a:t>Fan Line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D20453C-9468-41D0-AB79-1561A624D69A}"/>
              </a:ext>
            </a:extLst>
          </p:cNvPr>
          <p:cNvSpPr>
            <a:spLocks noGrp="1"/>
          </p:cNvSpPr>
          <p:nvPr/>
        </p:nvSpPr>
        <p:spPr>
          <a:xfrm>
            <a:off x="1085850" y="6115050"/>
            <a:ext cx="838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C2F44"/>
                </a:solidFill>
                <a:latin typeface="Apple SD Gothic Neo"/>
                <a:ea typeface="Apple SD Gothic Neo"/>
                <a:cs typeface="Apple SD Gothic Neo"/>
              </a:rPr>
              <a:t>Posting voice: 짧고 고백적인 문장, 한국어 중심, 가끔 짧은 영어. 해시태그보다 사진과 소리의 여백.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8ADBB3-D637-48BD-B7B7-B26928EACE5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@chaea.line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E8F651C-F6CD-4F91-8925-955183D405A5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45504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03487FBB-A621-4517-B9AD-CEA4226CE8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09-marker">
            <a:extLst>
              <a:ext uri="{FF2B5EF4-FFF2-40B4-BE49-F238E27FC236}">
                <a16:creationId xmlns:a16="http://schemas.microsoft.com/office/drawing/2014/main" id="{36DDE1BE-C455-48A9-8937-8ACBBDE721D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8575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09-label">
            <a:extLst>
              <a:ext uri="{FF2B5EF4-FFF2-40B4-BE49-F238E27FC236}">
                <a16:creationId xmlns:a16="http://schemas.microsoft.com/office/drawing/2014/main" id="{5DC04ADB-E6E8-4E7F-92A7-F4AA148FB090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FIRST COVER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534343-22F1-4C3B-AD83-1AF248BC1043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762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첫 커버는 노래보다 먼저</a:t>
            </a:r>
          </a:p>
          <a:p>
            <a:pPr algn="l">
              <a:def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428"/>
                </a:solidFill>
                <a:latin typeface="Aptos Display"/>
                <a:ea typeface="Aptos Display"/>
                <a:cs typeface="Aptos Display"/>
              </a:rPr>
              <a:t>발견의 장면을 설계해야 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EBEA13-4510-4FA1-88C8-9496893E8B31}"/>
              </a:ext>
            </a:extLst>
          </p:cNvPr>
          <p:cNvSpPr>
            <a:spLocks noGrp="1"/>
          </p:cNvSpPr>
          <p:nvPr/>
        </p:nvSpPr>
        <p:spPr>
          <a:xfrm>
            <a:off x="628650" y="2171700"/>
            <a:ext cx="66103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후보곡: 아이유 - 밤편지. 얼굴을 전부 드러내기 전에 방, 노트, 키보드, 옆모습, 시선이 순서대로 열리며 팬들이 ChaeA를 발견하게 만든다.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02BE5E-CBED-47EF-9688-97D3C6864468}"/>
              </a:ext>
            </a:extLst>
          </p:cNvPr>
          <p:cNvSpPr>
            <a:spLocks noGrp="1"/>
          </p:cNvSpPr>
          <p:nvPr/>
        </p:nvSpPr>
        <p:spPr>
          <a:xfrm>
            <a:off x="704850" y="3638550"/>
            <a:ext cx="1733550" cy="1504950"/>
          </a:xfrm>
          <a:prstGeom prst="rect">
            <a:avLst/>
          </a:prstGeom>
          <a:solidFill>
            <a:srgbClr val="FBF7F1"/>
          </a:solidFill>
          <a:ln w="9525">
            <a:solidFill>
              <a:srgbClr val="D8C7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C05C717-89A6-4820-9E37-EA71736435EA}"/>
              </a:ext>
            </a:extLst>
          </p:cNvPr>
          <p:cNvSpPr>
            <a:spLocks noGrp="1"/>
          </p:cNvSpPr>
          <p:nvPr/>
        </p:nvSpPr>
        <p:spPr>
          <a:xfrm>
            <a:off x="857250" y="38100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D20627-1627-4927-8E1C-3CA4232190BC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49530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6B2B58-A5AB-43C5-80CA-93020D00634B}"/>
              </a:ext>
            </a:extLst>
          </p:cNvPr>
          <p:cNvSpPr>
            <a:spLocks noGrp="1"/>
          </p:cNvSpPr>
          <p:nvPr/>
        </p:nvSpPr>
        <p:spPr>
          <a:xfrm>
            <a:off x="857250" y="428625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스탠드 조명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20F083-1913-4D50-AE94-15BBB92CA878}"/>
              </a:ext>
            </a:extLst>
          </p:cNvPr>
          <p:cNvSpPr>
            <a:spLocks noGrp="1"/>
          </p:cNvSpPr>
          <p:nvPr/>
        </p:nvSpPr>
        <p:spPr>
          <a:xfrm>
            <a:off x="857250" y="45910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방의 온도부터 시작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A79BA0-60BC-4BD5-9E50-9B24DC00743F}"/>
              </a:ext>
            </a:extLst>
          </p:cNvPr>
          <p:cNvSpPr>
            <a:spLocks noGrp="1"/>
          </p:cNvSpPr>
          <p:nvPr/>
        </p:nvSpPr>
        <p:spPr>
          <a:xfrm>
            <a:off x="2857500" y="3638550"/>
            <a:ext cx="1733550" cy="1504950"/>
          </a:xfrm>
          <a:prstGeom prst="rect">
            <a:avLst/>
          </a:prstGeom>
          <a:solidFill>
            <a:srgbClr val="FBF7F1"/>
          </a:solidFill>
          <a:ln w="9525">
            <a:solidFill>
              <a:srgbClr val="D8C7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B1C37D9-F21C-4B79-8395-1821F9491173}"/>
              </a:ext>
            </a:extLst>
          </p:cNvPr>
          <p:cNvSpPr>
            <a:spLocks noGrp="1"/>
          </p:cNvSpPr>
          <p:nvPr/>
        </p:nvSpPr>
        <p:spPr>
          <a:xfrm>
            <a:off x="3009900" y="38100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E2E0EC1-9E8E-430F-A5FA-CE04E7193487}"/>
              </a:ext>
            </a:extLst>
          </p:cNvPr>
          <p:cNvSpPr>
            <a:spLocks noGrp="1"/>
          </p:cNvSpPr>
          <p:nvPr/>
        </p:nvSpPr>
        <p:spPr>
          <a:xfrm>
            <a:off x="3009900" y="4076700"/>
            <a:ext cx="49530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55F856-F82C-4886-BAD0-FC964895EBA5}"/>
              </a:ext>
            </a:extLst>
          </p:cNvPr>
          <p:cNvSpPr>
            <a:spLocks noGrp="1"/>
          </p:cNvSpPr>
          <p:nvPr/>
        </p:nvSpPr>
        <p:spPr>
          <a:xfrm>
            <a:off x="3009900" y="428625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손글씨 가사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D5585A-ACF1-45D8-8470-4E7C4AB2CDFB}"/>
              </a:ext>
            </a:extLst>
          </p:cNvPr>
          <p:cNvSpPr>
            <a:spLocks noGrp="1"/>
          </p:cNvSpPr>
          <p:nvPr/>
        </p:nvSpPr>
        <p:spPr>
          <a:xfrm>
            <a:off x="3009900" y="45910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한국어를 배워가는 마음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8A18463-4BCD-46DE-B719-5E3B836AAB0D}"/>
              </a:ext>
            </a:extLst>
          </p:cNvPr>
          <p:cNvSpPr>
            <a:spLocks noGrp="1"/>
          </p:cNvSpPr>
          <p:nvPr/>
        </p:nvSpPr>
        <p:spPr>
          <a:xfrm>
            <a:off x="5010150" y="3638550"/>
            <a:ext cx="1733550" cy="1504950"/>
          </a:xfrm>
          <a:prstGeom prst="rect">
            <a:avLst/>
          </a:prstGeom>
          <a:solidFill>
            <a:srgbClr val="FBF7F1"/>
          </a:solidFill>
          <a:ln w="9525">
            <a:solidFill>
              <a:srgbClr val="D8C7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C18463-1C68-4D4A-AF6E-E70F08C7454E}"/>
              </a:ext>
            </a:extLst>
          </p:cNvPr>
          <p:cNvSpPr>
            <a:spLocks noGrp="1"/>
          </p:cNvSpPr>
          <p:nvPr/>
        </p:nvSpPr>
        <p:spPr>
          <a:xfrm>
            <a:off x="5162550" y="38100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4180B0-2D34-4923-9182-1980B4110F5F}"/>
              </a:ext>
            </a:extLst>
          </p:cNvPr>
          <p:cNvSpPr>
            <a:spLocks noGrp="1"/>
          </p:cNvSpPr>
          <p:nvPr/>
        </p:nvSpPr>
        <p:spPr>
          <a:xfrm>
            <a:off x="5162550" y="4076700"/>
            <a:ext cx="49530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A95276C-BA9A-44DD-9420-C63EBC44F208}"/>
              </a:ext>
            </a:extLst>
          </p:cNvPr>
          <p:cNvSpPr>
            <a:spLocks noGrp="1"/>
          </p:cNvSpPr>
          <p:nvPr/>
        </p:nvSpPr>
        <p:spPr>
          <a:xfrm>
            <a:off x="5162550" y="428625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작은 키보드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C5D573C-343B-4D5B-8B7B-B94DD6835EE9}"/>
              </a:ext>
            </a:extLst>
          </p:cNvPr>
          <p:cNvSpPr>
            <a:spLocks noGrp="1"/>
          </p:cNvSpPr>
          <p:nvPr/>
        </p:nvSpPr>
        <p:spPr>
          <a:xfrm>
            <a:off x="5162550" y="45910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원룸 데모의 실재감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1A30FB8-77F9-4E82-ABBA-A4DE8259AF34}"/>
              </a:ext>
            </a:extLst>
          </p:cNvPr>
          <p:cNvSpPr>
            <a:spLocks noGrp="1"/>
          </p:cNvSpPr>
          <p:nvPr/>
        </p:nvSpPr>
        <p:spPr>
          <a:xfrm>
            <a:off x="7162800" y="3638550"/>
            <a:ext cx="1733550" cy="1504950"/>
          </a:xfrm>
          <a:prstGeom prst="rect">
            <a:avLst/>
          </a:prstGeom>
          <a:solidFill>
            <a:srgbClr val="FBF7F1"/>
          </a:solidFill>
          <a:ln w="9525">
            <a:solidFill>
              <a:srgbClr val="D8C7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1DE49F-C7B6-4E10-AA2E-3C1E0CFBFF8C}"/>
              </a:ext>
            </a:extLst>
          </p:cNvPr>
          <p:cNvSpPr>
            <a:spLocks noGrp="1"/>
          </p:cNvSpPr>
          <p:nvPr/>
        </p:nvSpPr>
        <p:spPr>
          <a:xfrm>
            <a:off x="7315200" y="38100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97045F-B617-4174-8EFA-B7A13266AE08}"/>
              </a:ext>
            </a:extLst>
          </p:cNvPr>
          <p:cNvSpPr>
            <a:spLocks noGrp="1"/>
          </p:cNvSpPr>
          <p:nvPr/>
        </p:nvSpPr>
        <p:spPr>
          <a:xfrm>
            <a:off x="7315200" y="4076700"/>
            <a:ext cx="495300" cy="19050"/>
          </a:xfrm>
          <a:prstGeom prst="rect">
            <a:avLst/>
          </a:prstGeom>
          <a:solidFill>
            <a:srgbClr val="5D7F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025A76-6BE0-4020-9E02-32ED5FFA5A1B}"/>
              </a:ext>
            </a:extLst>
          </p:cNvPr>
          <p:cNvSpPr>
            <a:spLocks noGrp="1"/>
          </p:cNvSpPr>
          <p:nvPr/>
        </p:nvSpPr>
        <p:spPr>
          <a:xfrm>
            <a:off x="7315200" y="428625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옆모습 보컬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8664A5C-D02B-4B79-9EBA-742BA70265ED}"/>
              </a:ext>
            </a:extLst>
          </p:cNvPr>
          <p:cNvSpPr>
            <a:spLocks noGrp="1"/>
          </p:cNvSpPr>
          <p:nvPr/>
        </p:nvSpPr>
        <p:spPr>
          <a:xfrm>
            <a:off x="7315200" y="45910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B4146"/>
                </a:solidFill>
                <a:latin typeface="Apple SD Gothic Neo"/>
                <a:ea typeface="Apple SD Gothic Neo"/>
                <a:cs typeface="Apple SD Gothic Neo"/>
              </a:rPr>
              <a:t>목소리와 얼굴의 연결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C3EEDDA-2D61-42D7-8192-6A59C59EEB86}"/>
              </a:ext>
            </a:extLst>
          </p:cNvPr>
          <p:cNvSpPr>
            <a:spLocks noGrp="1"/>
          </p:cNvSpPr>
          <p:nvPr/>
        </p:nvSpPr>
        <p:spPr>
          <a:xfrm>
            <a:off x="9315450" y="3638550"/>
            <a:ext cx="1733550" cy="1504950"/>
          </a:xfrm>
          <a:prstGeom prst="rect">
            <a:avLst/>
          </a:prstGeom>
          <a:solidFill>
            <a:srgbClr val="1C2F44"/>
          </a:solidFill>
          <a:ln w="9525">
            <a:solidFill>
              <a:srgbClr val="1C2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887F394-B064-4866-9DD5-8EBC8F17E3BA}"/>
              </a:ext>
            </a:extLst>
          </p:cNvPr>
          <p:cNvSpPr>
            <a:spLocks noGrp="1"/>
          </p:cNvSpPr>
          <p:nvPr/>
        </p:nvSpPr>
        <p:spPr>
          <a:xfrm>
            <a:off x="9467850" y="38100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2B6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6A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451BEF-B941-43D3-9B73-9C2FF69B88CA}"/>
              </a:ext>
            </a:extLst>
          </p:cNvPr>
          <p:cNvSpPr>
            <a:spLocks noGrp="1"/>
          </p:cNvSpPr>
          <p:nvPr/>
        </p:nvSpPr>
        <p:spPr>
          <a:xfrm>
            <a:off x="9467850" y="4076700"/>
            <a:ext cx="495300" cy="19050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761934E-0FF0-47BF-9E1D-D87FAA5AE44B}"/>
              </a:ext>
            </a:extLst>
          </p:cNvPr>
          <p:cNvSpPr>
            <a:spLocks noGrp="1"/>
          </p:cNvSpPr>
          <p:nvPr/>
        </p:nvSpPr>
        <p:spPr>
          <a:xfrm>
            <a:off x="9467850" y="428625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카메라 시선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3E7A669-256F-4C27-A925-F0A842C29BCF}"/>
              </a:ext>
            </a:extLst>
          </p:cNvPr>
          <p:cNvSpPr>
            <a:spLocks noGrp="1"/>
          </p:cNvSpPr>
          <p:nvPr/>
        </p:nvSpPr>
        <p:spPr>
          <a:xfrm>
            <a:off x="9467850" y="45910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rPr>
              <a:t>처음 팬에게 닿는 순간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C0A4A4-F5DB-422C-AC7A-4CE128790C0C}"/>
              </a:ext>
            </a:extLst>
          </p:cNvPr>
          <p:cNvSpPr>
            <a:spLocks noGrp="1"/>
          </p:cNvSpPr>
          <p:nvPr/>
        </p:nvSpPr>
        <p:spPr>
          <a:xfrm>
            <a:off x="876300" y="53911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D7F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FA6"/>
                </a:solidFill>
                <a:latin typeface="Aptos"/>
                <a:ea typeface="Aptos"/>
                <a:cs typeface="Aptos"/>
              </a:rPr>
              <a:t>Caption seed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C4DC6CC-8BC5-4742-B900-F6042EB3B9A9}"/>
              </a:ext>
            </a:extLst>
          </p:cNvPr>
          <p:cNvSpPr>
            <a:spLocks noGrp="1"/>
          </p:cNvSpPr>
          <p:nvPr/>
        </p:nvSpPr>
        <p:spPr>
          <a:xfrm>
            <a:off x="876300" y="5638800"/>
            <a:ext cx="647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한국어로 마음을 전하는 건 아직 어렵지만,</a:t>
            </a:r>
          </a:p>
          <a:p>
            <a:pPr algn="l">
              <a:defRPr sz="1650" b="0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F2428"/>
                </a:solidFill>
                <a:latin typeface="Apple SD Gothic Neo"/>
                <a:ea typeface="Apple SD Gothic Neo"/>
                <a:cs typeface="Apple SD Gothic Neo"/>
              </a:rPr>
              <a:t>이 노래는 오래전부터 꼭 불러보고 싶었어요.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0A08A0D-D108-45CF-9655-3525482CACB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@chaea.line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468E50A-3D88-4ADE-A1E8-D52FC0F2800D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C909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909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97982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70D088-E668-4460-810D-04A2A9AAEE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F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A26BD129-3883-4FD2-B425-82B308FF7DB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85750" cy="19050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1403606D-1E92-4335-BE40-AB9406B2F485}"/>
              </a:ext>
            </a:extLst>
          </p:cNvPr>
          <p:cNvSpPr>
            <a:spLocks noGrp="1"/>
          </p:cNvSpPr>
          <p:nvPr/>
        </p:nvSpPr>
        <p:spPr>
          <a:xfrm>
            <a:off x="1009650" y="4572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2B6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6A0"/>
                </a:solidFill>
                <a:latin typeface="Aptos"/>
                <a:ea typeface="Aptos"/>
                <a:cs typeface="Aptos"/>
              </a:rPr>
              <a:t>NEXT BUILD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CE7598-680D-442A-BC57-DE4E346DE8CB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858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이제 정체성을</a:t>
            </a:r>
          </a:p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반복 가능한 제작 시스템으로 바꾼다.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D129BF-5086-4DFA-98A7-05D4A6C1883F}"/>
              </a:ext>
            </a:extLst>
          </p:cNvPr>
          <p:cNvSpPr>
            <a:spLocks noGrp="1"/>
          </p:cNvSpPr>
          <p:nvPr/>
        </p:nvSpPr>
        <p:spPr>
          <a:xfrm>
            <a:off x="628650" y="2190750"/>
            <a:ext cx="6381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rPr>
              <a:t>소개덱 이후의 작업은 모두 같은 기준을 공유해야 한다. 얼굴, 말투, 음악, 공간, SNS가 따로 움직이지 않도록 ChaeA의 LINE 안에 묶는다.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E4B313-A710-49C7-B0D6-46A6125B0215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2B6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6A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1C522A-3B75-4B11-9889-557D5B36A5A0}"/>
              </a:ext>
            </a:extLst>
          </p:cNvPr>
          <p:cNvSpPr>
            <a:spLocks noGrp="1"/>
          </p:cNvSpPr>
          <p:nvPr/>
        </p:nvSpPr>
        <p:spPr>
          <a:xfrm>
            <a:off x="1581150" y="3476625"/>
            <a:ext cx="1238250" cy="19050"/>
          </a:xfrm>
          <a:prstGeom prst="rect">
            <a:avLst/>
          </a:prstGeom>
          <a:solidFill>
            <a:srgbClr val="6F879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97DCB1-D6F6-45A7-A0B1-B0CF583FD5D5}"/>
              </a:ext>
            </a:extLst>
          </p:cNvPr>
          <p:cNvSpPr>
            <a:spLocks noGrp="1"/>
          </p:cNvSpPr>
          <p:nvPr/>
        </p:nvSpPr>
        <p:spPr>
          <a:xfrm>
            <a:off x="3086100" y="3333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 Bible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450E66-E88E-42AD-9CA3-C1A907D26CE2}"/>
              </a:ext>
            </a:extLst>
          </p:cNvPr>
          <p:cNvSpPr>
            <a:spLocks noGrp="1"/>
          </p:cNvSpPr>
          <p:nvPr/>
        </p:nvSpPr>
        <p:spPr>
          <a:xfrm>
            <a:off x="5391150" y="335280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rPr>
              <a:t>얼굴, 조명, 의상, 이미지 생성 기준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A94AFF-B5A5-43E9-B1F4-97D7F9A37C2B}"/>
              </a:ext>
            </a:extLst>
          </p:cNvPr>
          <p:cNvSpPr>
            <a:spLocks noGrp="1"/>
          </p:cNvSpPr>
          <p:nvPr/>
        </p:nvSpPr>
        <p:spPr>
          <a:xfrm>
            <a:off x="1047750" y="38862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2B6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6A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3E14FC-292C-4A05-85A0-F2758DA2EBFA}"/>
              </a:ext>
            </a:extLst>
          </p:cNvPr>
          <p:cNvSpPr>
            <a:spLocks noGrp="1"/>
          </p:cNvSpPr>
          <p:nvPr/>
        </p:nvSpPr>
        <p:spPr>
          <a:xfrm>
            <a:off x="1581150" y="3990975"/>
            <a:ext cx="1238250" cy="19050"/>
          </a:xfrm>
          <a:prstGeom prst="rect">
            <a:avLst/>
          </a:prstGeom>
          <a:solidFill>
            <a:srgbClr val="6F879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AE85FB-01E5-47CD-91B5-A0D43BBA69B3}"/>
              </a:ext>
            </a:extLst>
          </p:cNvPr>
          <p:cNvSpPr>
            <a:spLocks noGrp="1"/>
          </p:cNvSpPr>
          <p:nvPr/>
        </p:nvSpPr>
        <p:spPr>
          <a:xfrm>
            <a:off x="3086100" y="38481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SNS 30 days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851B00-9BC7-4C4A-8133-0858948C290F}"/>
              </a:ext>
            </a:extLst>
          </p:cNvPr>
          <p:cNvSpPr>
            <a:spLocks noGrp="1"/>
          </p:cNvSpPr>
          <p:nvPr/>
        </p:nvSpPr>
        <p:spPr>
          <a:xfrm>
            <a:off x="5391150" y="38671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rPr>
              <a:t>Room Cover / Diary / Word 콘텐츠 캘린더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3C764D-E3DC-47BD-89C5-BAB0679C3E79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2B6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6A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3CD20B-4D7C-45F9-BF24-96DAB43815E2}"/>
              </a:ext>
            </a:extLst>
          </p:cNvPr>
          <p:cNvSpPr>
            <a:spLocks noGrp="1"/>
          </p:cNvSpPr>
          <p:nvPr/>
        </p:nvSpPr>
        <p:spPr>
          <a:xfrm>
            <a:off x="1581150" y="4505325"/>
            <a:ext cx="1238250" cy="19050"/>
          </a:xfrm>
          <a:prstGeom prst="rect">
            <a:avLst/>
          </a:prstGeom>
          <a:solidFill>
            <a:srgbClr val="6F879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2EA0CA-8462-46B0-B9F9-601D181E52A7}"/>
              </a:ext>
            </a:extLst>
          </p:cNvPr>
          <p:cNvSpPr>
            <a:spLocks noGrp="1"/>
          </p:cNvSpPr>
          <p:nvPr/>
        </p:nvSpPr>
        <p:spPr>
          <a:xfrm>
            <a:off x="3086100" y="43624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Cover Storyboard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1E527DE-D38C-4A78-A456-65796482FC29}"/>
              </a:ext>
            </a:extLst>
          </p:cNvPr>
          <p:cNvSpPr>
            <a:spLocks noGrp="1"/>
          </p:cNvSpPr>
          <p:nvPr/>
        </p:nvSpPr>
        <p:spPr>
          <a:xfrm>
            <a:off x="5391150" y="438150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rPr>
              <a:t>밤편지 커버 영상 컷 구성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7A849E-9F2F-4B1B-A318-90533D2C627E}"/>
              </a:ext>
            </a:extLst>
          </p:cNvPr>
          <p:cNvSpPr>
            <a:spLocks noGrp="1"/>
          </p:cNvSpPr>
          <p:nvPr/>
        </p:nvSpPr>
        <p:spPr>
          <a:xfrm>
            <a:off x="1047750" y="49149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2B6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6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275495D-F1CE-42DC-AC53-6C89F634A0AA}"/>
              </a:ext>
            </a:extLst>
          </p:cNvPr>
          <p:cNvSpPr>
            <a:spLocks noGrp="1"/>
          </p:cNvSpPr>
          <p:nvPr/>
        </p:nvSpPr>
        <p:spPr>
          <a:xfrm>
            <a:off x="1581150" y="5019675"/>
            <a:ext cx="1238250" cy="19050"/>
          </a:xfrm>
          <a:prstGeom prst="rect">
            <a:avLst/>
          </a:prstGeom>
          <a:solidFill>
            <a:srgbClr val="6F879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999A6A-4520-4FC8-901B-5962CE8CB2F4}"/>
              </a:ext>
            </a:extLst>
          </p:cNvPr>
          <p:cNvSpPr>
            <a:spLocks noGrp="1"/>
          </p:cNvSpPr>
          <p:nvPr/>
        </p:nvSpPr>
        <p:spPr>
          <a:xfrm>
            <a:off x="3086100" y="48768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Debut Single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7EE952-AA67-4744-85EE-585E97953C99}"/>
              </a:ext>
            </a:extLst>
          </p:cNvPr>
          <p:cNvSpPr>
            <a:spLocks noGrp="1"/>
          </p:cNvSpPr>
          <p:nvPr/>
        </p:nvSpPr>
        <p:spPr>
          <a:xfrm>
            <a:off x="5391150" y="48958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rPr>
              <a:t>첫 오리지널 곡 제목, 가사, 사운드 방향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CD910A-8768-464F-9E3E-D3F61BB33E65}"/>
              </a:ext>
            </a:extLst>
          </p:cNvPr>
          <p:cNvSpPr>
            <a:spLocks noGrp="1"/>
          </p:cNvSpPr>
          <p:nvPr/>
        </p:nvSpPr>
        <p:spPr>
          <a:xfrm>
            <a:off x="1047750" y="54292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2B6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6A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227B29A-241E-47F6-B3F6-BDCAEFBCE9BE}"/>
              </a:ext>
            </a:extLst>
          </p:cNvPr>
          <p:cNvSpPr>
            <a:spLocks noGrp="1"/>
          </p:cNvSpPr>
          <p:nvPr/>
        </p:nvSpPr>
        <p:spPr>
          <a:xfrm>
            <a:off x="1581150" y="5534025"/>
            <a:ext cx="1238250" cy="19050"/>
          </a:xfrm>
          <a:prstGeom prst="rect">
            <a:avLst/>
          </a:prstGeom>
          <a:solidFill>
            <a:srgbClr val="F2B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12E5FBA-337E-44C8-8B88-742E1F61ACB7}"/>
              </a:ext>
            </a:extLst>
          </p:cNvPr>
          <p:cNvSpPr>
            <a:spLocks noGrp="1"/>
          </p:cNvSpPr>
          <p:nvPr/>
        </p:nvSpPr>
        <p:spPr>
          <a:xfrm>
            <a:off x="3086100" y="53911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Fan Line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F45457-D58F-4E9E-83A3-8A0B79173295}"/>
              </a:ext>
            </a:extLst>
          </p:cNvPr>
          <p:cNvSpPr>
            <a:spLocks noGrp="1"/>
          </p:cNvSpPr>
          <p:nvPr/>
        </p:nvSpPr>
        <p:spPr>
          <a:xfrm>
            <a:off x="5391150" y="541020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DE6EF"/>
                </a:solidFill>
                <a:latin typeface="Apple SD Gothic Neo"/>
                <a:ea typeface="Apple SD Gothic Neo"/>
                <a:cs typeface="Apple SD Gothic Neo"/>
              </a:rPr>
              <a:t>팬덤명, 댓글 톤, 커뮤니티 언어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8BAFF8F-50A4-4FC4-8F2E-9B751FDB0690}"/>
              </a:ext>
            </a:extLst>
          </p:cNvPr>
          <p:cNvSpPr>
            <a:spLocks noGrp="1"/>
          </p:cNvSpPr>
          <p:nvPr/>
        </p:nvSpPr>
        <p:spPr>
          <a:xfrm>
            <a:off x="8343900" y="11620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2B6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6A0"/>
                </a:solidFill>
                <a:latin typeface="Aptos"/>
                <a:ea typeface="Aptos"/>
                <a:cs typeface="Aptos"/>
              </a:rPr>
              <a:t>Working principle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DE0C9C-CC1A-4D85-A858-1F2AAAB88E73}"/>
              </a:ext>
            </a:extLst>
          </p:cNvPr>
          <p:cNvSpPr>
            <a:spLocks noGrp="1"/>
          </p:cNvSpPr>
          <p:nvPr/>
        </p:nvSpPr>
        <p:spPr>
          <a:xfrm>
            <a:off x="8324850" y="1466850"/>
            <a:ext cx="2762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모든 산출물은</a:t>
            </a:r>
          </a:p>
          <a:p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'원룸에서 발견한 목소리'라는</a:t>
            </a:r>
          </a:p>
          <a:p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첫 인상을 잃지 않아야 한다.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8ED1DC-16D5-458D-AC48-3931DCC711C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E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ECE"/>
                </a:solidFill>
                <a:latin typeface="Aptos"/>
                <a:ea typeface="Aptos"/>
                <a:cs typeface="Aptos"/>
              </a:rPr>
              <a:t>@chaea.line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BFDA1DE-08D2-45CF-A07E-BF86D3CF5101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EBE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EC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79144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Macintosh PowerPoint</Application>
  <DocSecurity>0</DocSecurity>
  <PresentationFormat>와이드스크린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Apple SD Gothic Neo</vt:lpstr>
      <vt:lpstr>Aptos</vt:lpstr>
      <vt:lpstr>Aptos Display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Sound Republica 10 Joseph</cp:lastModifiedBy>
  <cp:revision>1</cp:revision>
  <dcterms:created xsi:type="dcterms:W3CDTF">2026-05-06T07:47:04Z</dcterms:created>
  <dcterms:modified xsi:type="dcterms:W3CDTF">2026-05-06T07:58:48Z</dcterms:modified>
</cp:coreProperties>
</file>